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10ddbd6896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10ddbd6896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0ddbd6896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0ddbd6896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ddbd6896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ddbd6896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ddbd68964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ddbd68964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5981175" y="65200"/>
            <a:ext cx="2510600" cy="2512999"/>
          </a:xfrm>
          <a:prstGeom prst="rect">
            <a:avLst/>
          </a:prstGeom>
          <a:noFill/>
          <a:ln>
            <a:noFill/>
          </a:ln>
        </p:spPr>
      </p:pic>
      <p:sp>
        <p:nvSpPr>
          <p:cNvPr id="55" name="Google Shape;55;p13"/>
          <p:cNvSpPr txBox="1"/>
          <p:nvPr/>
        </p:nvSpPr>
        <p:spPr>
          <a:xfrm>
            <a:off x="5981175" y="2760850"/>
            <a:ext cx="2861700" cy="2154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pt-BR" sz="1600"/>
              <a:t>    </a:t>
            </a:r>
            <a:r>
              <a:rPr lang="pt-BR" sz="1600"/>
              <a:t>Grupo 9 - Divisão Social</a:t>
            </a:r>
            <a:endParaRPr sz="1600"/>
          </a:p>
          <a:p>
            <a:pPr indent="0" lvl="0" marL="0" rtl="0" algn="just">
              <a:spcBef>
                <a:spcPts val="0"/>
              </a:spcBef>
              <a:spcAft>
                <a:spcPts val="0"/>
              </a:spcAft>
              <a:buNone/>
            </a:pPr>
            <a:r>
              <a:rPr lang="pt-BR" sz="1600"/>
              <a:t>Stephany Marques dos Santos</a:t>
            </a:r>
            <a:endParaRPr sz="1600"/>
          </a:p>
          <a:p>
            <a:pPr indent="0" lvl="0" marL="0" rtl="0" algn="just">
              <a:spcBef>
                <a:spcPts val="0"/>
              </a:spcBef>
              <a:spcAft>
                <a:spcPts val="0"/>
              </a:spcAft>
              <a:buNone/>
            </a:pPr>
            <a:r>
              <a:rPr lang="pt-BR" sz="1600"/>
              <a:t>Thainara Lopes de Paiva</a:t>
            </a:r>
            <a:endParaRPr sz="1600"/>
          </a:p>
          <a:p>
            <a:pPr indent="0" lvl="0" marL="0" rtl="0" algn="just">
              <a:spcBef>
                <a:spcPts val="0"/>
              </a:spcBef>
              <a:spcAft>
                <a:spcPts val="0"/>
              </a:spcAft>
              <a:buNone/>
            </a:pPr>
            <a:r>
              <a:rPr lang="pt-BR" sz="1600"/>
              <a:t>Thiago Farias Lourenço</a:t>
            </a:r>
            <a:endParaRPr sz="1600"/>
          </a:p>
          <a:p>
            <a:pPr indent="0" lvl="0" marL="0" rtl="0" algn="just">
              <a:spcBef>
                <a:spcPts val="0"/>
              </a:spcBef>
              <a:spcAft>
                <a:spcPts val="0"/>
              </a:spcAft>
              <a:buNone/>
            </a:pPr>
            <a:r>
              <a:rPr lang="pt-BR" sz="1600"/>
              <a:t>Victor Vynicius Salusto Martorano</a:t>
            </a:r>
            <a:endParaRPr sz="1600"/>
          </a:p>
          <a:p>
            <a:pPr indent="0" lvl="0" marL="0" rtl="0" algn="just">
              <a:spcBef>
                <a:spcPts val="0"/>
              </a:spcBef>
              <a:spcAft>
                <a:spcPts val="0"/>
              </a:spcAft>
              <a:buNone/>
            </a:pPr>
            <a:r>
              <a:rPr lang="pt-BR" sz="1600"/>
              <a:t>Vinicius Aristimunha pinto</a:t>
            </a:r>
            <a:endParaRPr sz="1600"/>
          </a:p>
        </p:txBody>
      </p:sp>
      <p:sp>
        <p:nvSpPr>
          <p:cNvPr id="56" name="Google Shape;56;p13"/>
          <p:cNvSpPr txBox="1"/>
          <p:nvPr/>
        </p:nvSpPr>
        <p:spPr>
          <a:xfrm>
            <a:off x="2622200" y="201700"/>
            <a:ext cx="72615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500"/>
              <a:t>Dimensão Social </a:t>
            </a:r>
            <a:endParaRPr sz="2500"/>
          </a:p>
        </p:txBody>
      </p:sp>
      <p:sp>
        <p:nvSpPr>
          <p:cNvPr id="57" name="Google Shape;57;p13"/>
          <p:cNvSpPr txBox="1"/>
          <p:nvPr/>
        </p:nvSpPr>
        <p:spPr>
          <a:xfrm>
            <a:off x="5206550" y="2371650"/>
            <a:ext cx="383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Escola de Ciência e Tecnologia - UFRN</a:t>
            </a:r>
            <a:endParaRPr/>
          </a:p>
        </p:txBody>
      </p:sp>
      <p:sp>
        <p:nvSpPr>
          <p:cNvPr id="58" name="Google Shape;58;p13"/>
          <p:cNvSpPr txBox="1"/>
          <p:nvPr/>
        </p:nvSpPr>
        <p:spPr>
          <a:xfrm>
            <a:off x="3567675" y="682875"/>
            <a:ext cx="115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600"/>
              <a:t>Vacina</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 name="Shape 62"/>
        <p:cNvGrpSpPr/>
        <p:nvPr/>
      </p:nvGrpSpPr>
      <p:grpSpPr>
        <a:xfrm>
          <a:off x="0" y="0"/>
          <a:ext cx="0" cy="0"/>
          <a:chOff x="0" y="0"/>
          <a:chExt cx="0" cy="0"/>
        </a:xfrm>
      </p:grpSpPr>
      <p:pic>
        <p:nvPicPr>
          <p:cNvPr id="63" name="Google Shape;63;p14"/>
          <p:cNvPicPr preferRelativeResize="0"/>
          <p:nvPr/>
        </p:nvPicPr>
        <p:blipFill>
          <a:blip r:embed="rId4">
            <a:alphaModFix/>
          </a:blip>
          <a:stretch>
            <a:fillRect/>
          </a:stretch>
        </p:blipFill>
        <p:spPr>
          <a:xfrm>
            <a:off x="5315900" y="54175"/>
            <a:ext cx="3105324" cy="3108299"/>
          </a:xfrm>
          <a:prstGeom prst="rect">
            <a:avLst/>
          </a:prstGeom>
          <a:noFill/>
          <a:ln>
            <a:noFill/>
          </a:ln>
        </p:spPr>
      </p:pic>
      <p:sp>
        <p:nvSpPr>
          <p:cNvPr id="64" name="Google Shape;64;p14"/>
          <p:cNvSpPr txBox="1"/>
          <p:nvPr>
            <p:ph type="title"/>
          </p:nvPr>
        </p:nvSpPr>
        <p:spPr>
          <a:xfrm>
            <a:off x="1418150" y="183225"/>
            <a:ext cx="6719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solidFill>
                  <a:schemeClr val="dk2"/>
                </a:solidFill>
                <a:highlight>
                  <a:schemeClr val="lt2"/>
                </a:highlight>
              </a:rPr>
              <a:t>   </a:t>
            </a:r>
            <a:r>
              <a:rPr lang="pt-BR">
                <a:solidFill>
                  <a:schemeClr val="dk2"/>
                </a:solidFill>
                <a:highlight>
                  <a:schemeClr val="lt2"/>
                </a:highlight>
              </a:rPr>
              <a:t>Ponto de vista científico e distribuição social </a:t>
            </a:r>
            <a:endParaRPr>
              <a:solidFill>
                <a:schemeClr val="dk2"/>
              </a:solidFill>
              <a:highlight>
                <a:schemeClr val="lt2"/>
              </a:highlight>
            </a:endParaRPr>
          </a:p>
        </p:txBody>
      </p:sp>
      <p:sp>
        <p:nvSpPr>
          <p:cNvPr id="65" name="Google Shape;65;p14"/>
          <p:cNvSpPr txBox="1"/>
          <p:nvPr>
            <p:ph idx="1" type="body"/>
          </p:nvPr>
        </p:nvSpPr>
        <p:spPr>
          <a:xfrm>
            <a:off x="100850" y="813125"/>
            <a:ext cx="8837400" cy="4279800"/>
          </a:xfrm>
          <a:prstGeom prst="rect">
            <a:avLst/>
          </a:prstGeom>
        </p:spPr>
        <p:txBody>
          <a:bodyPr anchorCtr="0" anchor="t" bIns="91425" lIns="91425" spcFirstLastPara="1" rIns="91425" wrap="square" tIns="91425">
            <a:normAutofit fontScale="25000" lnSpcReduction="10000"/>
          </a:bodyPr>
          <a:lstStyle/>
          <a:p>
            <a:pPr indent="-320797" lvl="0" marL="457200" rtl="0" algn="just">
              <a:spcBef>
                <a:spcPts val="0"/>
              </a:spcBef>
              <a:spcAft>
                <a:spcPts val="0"/>
              </a:spcAft>
              <a:buClr>
                <a:srgbClr val="000000"/>
              </a:buClr>
              <a:buSzPct val="100000"/>
              <a:buChar char="●"/>
            </a:pPr>
            <a:r>
              <a:rPr lang="pt-BR" sz="5807">
                <a:solidFill>
                  <a:srgbClr val="000000"/>
                </a:solidFill>
              </a:rPr>
              <a:t>Um produto seguro e eficaz para prevenir infecções pelo coronavírus tem sido esperada como uma expectativa capaz de deter o avanço do vírus, estímulos para que cientistas de todo o mundo encontrem em tempo recorde, uma vacina contra a Covid-19 têm várias etapas a cumprir,desde os primeiros testes em laboratório até o produto chegar às salas de imunização, é preciso tempo, investimento e esforço humano. </a:t>
            </a:r>
            <a:r>
              <a:rPr lang="pt-BR" sz="5807">
                <a:solidFill>
                  <a:srgbClr val="000000"/>
                </a:solidFill>
              </a:rPr>
              <a:t>Os efeitos da pandemia de Covid-19 têm gerado expectativas em torno de soluções rápidas capazes de garantir o retorno à normalidade,não é simples o processo de desenvolver uma vacina em tão pouco tempo para algo extremamente catastrófico.</a:t>
            </a:r>
            <a:endParaRPr sz="5807">
              <a:solidFill>
                <a:srgbClr val="000000"/>
              </a:solidFill>
            </a:endParaRPr>
          </a:p>
          <a:p>
            <a:pPr indent="0" lvl="0" marL="457200" rtl="0" algn="just">
              <a:spcBef>
                <a:spcPts val="1200"/>
              </a:spcBef>
              <a:spcAft>
                <a:spcPts val="0"/>
              </a:spcAft>
              <a:buNone/>
            </a:pPr>
            <a:r>
              <a:t/>
            </a:r>
            <a:endParaRPr sz="5807">
              <a:solidFill>
                <a:schemeClr val="dk1"/>
              </a:solidFill>
            </a:endParaRPr>
          </a:p>
          <a:p>
            <a:pPr indent="-314447" lvl="0" marL="457200" rtl="0" algn="just">
              <a:spcBef>
                <a:spcPts val="1200"/>
              </a:spcBef>
              <a:spcAft>
                <a:spcPts val="0"/>
              </a:spcAft>
              <a:buClr>
                <a:schemeClr val="dk1"/>
              </a:buClr>
              <a:buSzPct val="93112"/>
              <a:buChar char="●"/>
            </a:pPr>
            <a:r>
              <a:rPr lang="pt-BR" sz="5807">
                <a:solidFill>
                  <a:schemeClr val="dk1"/>
                </a:solidFill>
              </a:rPr>
              <a:t>Quanto à distribuição social das doses, uma das principais causas da divisão de doses remonta a acontecimentos do início da pandemia. Época quando os imunizantes começaram a ser desenvolvidos, em países ricos, como Estados Unidos e Reino Unido, realizando acordo com várias das principais indústrias farmacêuticas, em troca de dinheiro para financiar sua busca pela vacina, uma determinada empresa daria prioridade de compra uma vez que os imunizantes estivessem prontos.</a:t>
            </a:r>
            <a:r>
              <a:rPr lang="pt-BR" sz="5407">
                <a:solidFill>
                  <a:schemeClr val="dk1"/>
                </a:solidFill>
              </a:rPr>
              <a:t>  </a:t>
            </a:r>
            <a:r>
              <a:rPr lang="pt-BR" sz="1350">
                <a:solidFill>
                  <a:srgbClr val="262626"/>
                </a:solidFill>
              </a:rPr>
              <a:t>,</a:t>
            </a:r>
            <a:endParaRPr sz="4607">
              <a:solidFill>
                <a:schemeClr val="dk1"/>
              </a:solidFill>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cxnSp>
        <p:nvCxnSpPr>
          <p:cNvPr id="66" name="Google Shape;66;p14"/>
          <p:cNvCxnSpPr/>
          <p:nvPr/>
        </p:nvCxnSpPr>
        <p:spPr>
          <a:xfrm>
            <a:off x="447600" y="183225"/>
            <a:ext cx="8244600" cy="63000"/>
          </a:xfrm>
          <a:prstGeom prst="straightConnector1">
            <a:avLst/>
          </a:prstGeom>
          <a:noFill/>
          <a:ln cap="flat" cmpd="sng" w="9525">
            <a:solidFill>
              <a:schemeClr val="dk2"/>
            </a:solidFill>
            <a:prstDash val="solid"/>
            <a:round/>
            <a:headEnd len="med" w="med" type="none"/>
            <a:tailEnd len="med" w="med" type="none"/>
          </a:ln>
        </p:spPr>
      </p:cxnSp>
      <p:cxnSp>
        <p:nvCxnSpPr>
          <p:cNvPr id="67" name="Google Shape;67;p14"/>
          <p:cNvCxnSpPr/>
          <p:nvPr/>
        </p:nvCxnSpPr>
        <p:spPr>
          <a:xfrm flipH="1" rot="10800000">
            <a:off x="655550" y="4891375"/>
            <a:ext cx="8030400" cy="126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14"/>
          <p:cNvCxnSpPr/>
          <p:nvPr/>
        </p:nvCxnSpPr>
        <p:spPr>
          <a:xfrm>
            <a:off x="844650" y="4714875"/>
            <a:ext cx="7450500" cy="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14"/>
          <p:cNvCxnSpPr/>
          <p:nvPr/>
        </p:nvCxnSpPr>
        <p:spPr>
          <a:xfrm>
            <a:off x="756400" y="75650"/>
            <a:ext cx="7677300" cy="50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457200" rtl="0" algn="l">
              <a:spcBef>
                <a:spcPts val="0"/>
              </a:spcBef>
              <a:spcAft>
                <a:spcPts val="0"/>
              </a:spcAft>
              <a:buNone/>
            </a:pPr>
            <a:r>
              <a:rPr lang="pt-BR">
                <a:solidFill>
                  <a:schemeClr val="dk2"/>
                </a:solidFill>
                <a:highlight>
                  <a:schemeClr val="lt2"/>
                </a:highlight>
              </a:rPr>
              <a:t>Distribuição igualitária e a importância da vacinação</a:t>
            </a:r>
            <a:endParaRPr>
              <a:solidFill>
                <a:schemeClr val="dk2"/>
              </a:solidFill>
              <a:highlight>
                <a:schemeClr val="lt2"/>
              </a:highlight>
            </a:endParaRPr>
          </a:p>
        </p:txBody>
      </p:sp>
      <p:sp>
        <p:nvSpPr>
          <p:cNvPr id="75" name="Google Shape;75;p15"/>
          <p:cNvSpPr txBox="1"/>
          <p:nvPr>
            <p:ph idx="1" type="body"/>
          </p:nvPr>
        </p:nvSpPr>
        <p:spPr>
          <a:xfrm>
            <a:off x="285750" y="1046787"/>
            <a:ext cx="8572500" cy="3103500"/>
          </a:xfrm>
          <a:prstGeom prst="rect">
            <a:avLst/>
          </a:prstGeom>
          <a:ln cap="flat" cmpd="sng" w="9525">
            <a:solidFill>
              <a:srgbClr val="000000"/>
            </a:solidFill>
            <a:prstDash val="dot"/>
            <a:round/>
            <a:headEnd len="sm" w="sm" type="none"/>
            <a:tailEnd len="sm" w="sm" type="none"/>
          </a:ln>
        </p:spPr>
        <p:txBody>
          <a:bodyPr anchorCtr="0" anchor="b" bIns="91425" lIns="91425" spcFirstLastPara="1" rIns="91425" wrap="square" tIns="91425">
            <a:normAutofit/>
          </a:bodyPr>
          <a:lstStyle/>
          <a:p>
            <a:pPr indent="-319405" lvl="0" marL="457200" rtl="0" algn="just">
              <a:lnSpc>
                <a:spcPct val="105000"/>
              </a:lnSpc>
              <a:spcBef>
                <a:spcPts val="0"/>
              </a:spcBef>
              <a:spcAft>
                <a:spcPts val="0"/>
              </a:spcAft>
              <a:buClr>
                <a:schemeClr val="dk1"/>
              </a:buClr>
              <a:buSzPts val="1430"/>
              <a:buChar char="●"/>
            </a:pPr>
            <a:r>
              <a:rPr lang="pt-BR" sz="1430">
                <a:solidFill>
                  <a:schemeClr val="dk1"/>
                </a:solidFill>
              </a:rPr>
              <a:t>A campanha de vacinação está sendo marcada pela desigualdade social. Um estudo feito pela Fundação Oswaldo Cruz (Fiocruz), mostra que os municípios que que têm um menor Índice de Desenvolvimento Humano (IDH) são os que tiveram menor concentração  de imunizantes. Ou seja, as regiões com maiores recursos foram contempladas com a maior taxa de vacinação enquanto as mais precárias tiveram um número relativamente  menor. </a:t>
            </a:r>
            <a:r>
              <a:rPr lang="pt-BR" sz="1430">
                <a:solidFill>
                  <a:schemeClr val="dk1"/>
                </a:solidFill>
              </a:rPr>
              <a:t>'Todos têm direito de ter acesso a uma vacina contra ao coronavírus que seja segura, eficaz, oportuna e baseada na aplicação do melhor desenvolvimento científico'', disseram os especialista. </a:t>
            </a:r>
            <a:endParaRPr sz="1430">
              <a:solidFill>
                <a:schemeClr val="dk1"/>
              </a:solidFill>
            </a:endParaRPr>
          </a:p>
          <a:p>
            <a:pPr indent="0" lvl="0" marL="914400" rtl="0" algn="just">
              <a:lnSpc>
                <a:spcPct val="105000"/>
              </a:lnSpc>
              <a:spcBef>
                <a:spcPts val="1200"/>
              </a:spcBef>
              <a:spcAft>
                <a:spcPts val="0"/>
              </a:spcAft>
              <a:buNone/>
            </a:pPr>
            <a:r>
              <a:t/>
            </a:r>
            <a:endParaRPr sz="1430">
              <a:solidFill>
                <a:schemeClr val="dk1"/>
              </a:solidFill>
            </a:endParaRPr>
          </a:p>
          <a:p>
            <a:pPr indent="-319405" lvl="0" marL="457200" rtl="0" algn="just">
              <a:lnSpc>
                <a:spcPct val="105000"/>
              </a:lnSpc>
              <a:spcBef>
                <a:spcPts val="1200"/>
              </a:spcBef>
              <a:spcAft>
                <a:spcPts val="0"/>
              </a:spcAft>
              <a:buClr>
                <a:schemeClr val="dk1"/>
              </a:buClr>
              <a:buSzPts val="1430"/>
              <a:buChar char="●"/>
            </a:pPr>
            <a:r>
              <a:rPr lang="pt-BR" sz="1430">
                <a:solidFill>
                  <a:schemeClr val="dk1"/>
                </a:solidFill>
              </a:rPr>
              <a:t>É necessário que o governo tenha consciência de que as vacinas precisam ser distribuídas de maneira equitativa pois a imunização em massa protege todos, diminuindo o risco de contágio, e é a forma mais eficaz de frear a contaminação e o surgimento de novas variantes.</a:t>
            </a:r>
            <a:endParaRPr sz="1530"/>
          </a:p>
        </p:txBody>
      </p:sp>
      <p:cxnSp>
        <p:nvCxnSpPr>
          <p:cNvPr id="76" name="Google Shape;76;p15"/>
          <p:cNvCxnSpPr/>
          <p:nvPr/>
        </p:nvCxnSpPr>
        <p:spPr>
          <a:xfrm>
            <a:off x="466450" y="252125"/>
            <a:ext cx="7828800" cy="37800"/>
          </a:xfrm>
          <a:prstGeom prst="straightConnector1">
            <a:avLst/>
          </a:prstGeom>
          <a:noFill/>
          <a:ln cap="flat" cmpd="sng" w="9525">
            <a:solidFill>
              <a:schemeClr val="dk1"/>
            </a:solidFill>
            <a:prstDash val="solid"/>
            <a:round/>
            <a:headEnd len="med" w="med" type="none"/>
            <a:tailEnd len="med" w="med" type="none"/>
          </a:ln>
        </p:spPr>
      </p:cxnSp>
      <p:cxnSp>
        <p:nvCxnSpPr>
          <p:cNvPr id="77" name="Google Shape;77;p15"/>
          <p:cNvCxnSpPr/>
          <p:nvPr/>
        </p:nvCxnSpPr>
        <p:spPr>
          <a:xfrm>
            <a:off x="466450" y="4741200"/>
            <a:ext cx="7828800" cy="37800"/>
          </a:xfrm>
          <a:prstGeom prst="straightConnector1">
            <a:avLst/>
          </a:prstGeom>
          <a:noFill/>
          <a:ln cap="flat" cmpd="sng" w="9525">
            <a:solidFill>
              <a:schemeClr val="dk1"/>
            </a:solidFill>
            <a:prstDash val="solid"/>
            <a:round/>
            <a:headEnd len="med" w="med" type="none"/>
            <a:tailEnd len="med" w="med" type="none"/>
          </a:ln>
        </p:spPr>
      </p:cxnSp>
      <p:cxnSp>
        <p:nvCxnSpPr>
          <p:cNvPr id="78" name="Google Shape;78;p15"/>
          <p:cNvCxnSpPr/>
          <p:nvPr/>
        </p:nvCxnSpPr>
        <p:spPr>
          <a:xfrm>
            <a:off x="844650" y="352975"/>
            <a:ext cx="7299300" cy="63000"/>
          </a:xfrm>
          <a:prstGeom prst="straightConnector1">
            <a:avLst/>
          </a:prstGeom>
          <a:noFill/>
          <a:ln cap="flat" cmpd="sng" w="9525">
            <a:solidFill>
              <a:schemeClr val="dk1"/>
            </a:solidFill>
            <a:prstDash val="solid"/>
            <a:round/>
            <a:headEnd len="med" w="med" type="none"/>
            <a:tailEnd len="med" w="med" type="none"/>
          </a:ln>
        </p:spPr>
      </p:cxnSp>
      <p:cxnSp>
        <p:nvCxnSpPr>
          <p:cNvPr id="79" name="Google Shape;79;p15"/>
          <p:cNvCxnSpPr/>
          <p:nvPr/>
        </p:nvCxnSpPr>
        <p:spPr>
          <a:xfrm flipH="1" rot="10800000">
            <a:off x="630325" y="4651850"/>
            <a:ext cx="7425300" cy="126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3" name="Shape 83"/>
        <p:cNvGrpSpPr/>
        <p:nvPr/>
      </p:nvGrpSpPr>
      <p:grpSpPr>
        <a:xfrm>
          <a:off x="0" y="0"/>
          <a:ext cx="0" cy="0"/>
          <a:chOff x="0" y="0"/>
          <a:chExt cx="0" cy="0"/>
        </a:xfrm>
      </p:grpSpPr>
      <p:pic>
        <p:nvPicPr>
          <p:cNvPr id="84" name="Google Shape;84;p16"/>
          <p:cNvPicPr preferRelativeResize="0"/>
          <p:nvPr/>
        </p:nvPicPr>
        <p:blipFill>
          <a:blip r:embed="rId3">
            <a:alphaModFix/>
          </a:blip>
          <a:stretch>
            <a:fillRect/>
          </a:stretch>
        </p:blipFill>
        <p:spPr>
          <a:xfrm>
            <a:off x="1750591" y="-75625"/>
            <a:ext cx="5138568" cy="5143500"/>
          </a:xfrm>
          <a:prstGeom prst="rect">
            <a:avLst/>
          </a:prstGeom>
          <a:noFill/>
          <a:ln>
            <a:noFill/>
          </a:ln>
        </p:spPr>
      </p:pic>
      <p:sp>
        <p:nvSpPr>
          <p:cNvPr id="85" name="Google Shape;85;p16"/>
          <p:cNvSpPr txBox="1"/>
          <p:nvPr>
            <p:ph type="title"/>
          </p:nvPr>
        </p:nvSpPr>
        <p:spPr>
          <a:xfrm>
            <a:off x="1607700" y="215225"/>
            <a:ext cx="5928600" cy="572700"/>
          </a:xfrm>
          <a:prstGeom prst="rect">
            <a:avLst/>
          </a:prstGeom>
        </p:spPr>
        <p:txBody>
          <a:bodyPr anchorCtr="0" anchor="t" bIns="91425" lIns="91425" spcFirstLastPara="1" rIns="91425" wrap="square" tIns="91425">
            <a:normAutofit fontScale="90000"/>
          </a:bodyPr>
          <a:lstStyle/>
          <a:p>
            <a:pPr indent="0" lvl="0" marL="457200" rtl="0" algn="l">
              <a:spcBef>
                <a:spcPts val="0"/>
              </a:spcBef>
              <a:spcAft>
                <a:spcPts val="0"/>
              </a:spcAft>
              <a:buNone/>
            </a:pPr>
            <a:r>
              <a:rPr lang="pt-BR">
                <a:solidFill>
                  <a:schemeClr val="dk2"/>
                </a:solidFill>
                <a:highlight>
                  <a:srgbClr val="EFEFEF"/>
                </a:highlight>
              </a:rPr>
              <a:t>Fake News e a Eficácia da vacina</a:t>
            </a:r>
            <a:endParaRPr>
              <a:solidFill>
                <a:schemeClr val="dk2"/>
              </a:solidFill>
              <a:highlight>
                <a:srgbClr val="EFEFEF"/>
              </a:highlight>
            </a:endParaRPr>
          </a:p>
        </p:txBody>
      </p:sp>
      <p:sp>
        <p:nvSpPr>
          <p:cNvPr id="86" name="Google Shape;86;p16"/>
          <p:cNvSpPr txBox="1"/>
          <p:nvPr>
            <p:ph idx="1" type="body"/>
          </p:nvPr>
        </p:nvSpPr>
        <p:spPr>
          <a:xfrm>
            <a:off x="311700" y="787913"/>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pt-BR" sz="1400">
                <a:solidFill>
                  <a:schemeClr val="dk1"/>
                </a:solidFill>
              </a:rPr>
              <a:t>A partir do momento em que a imunização foi anunciada no país, possíveis casos de ‘Fake News’ e conspirações foram surgindo causando terrorização na população. A insegurança e o medo provocados pela disseminação em massa de notícias falsas fizeram com que boa parte da sociedade resguarda-se e tornasse mais negacionista colocando em xeque a gravidade da pandemia da covid-19 e a eficácia dos imunizantes contra a doença.</a:t>
            </a:r>
            <a:endParaRPr sz="1400">
              <a:solidFill>
                <a:schemeClr val="dk1"/>
              </a:solidFill>
            </a:endParaRPr>
          </a:p>
          <a:p>
            <a:pPr indent="0" lvl="0" marL="0" rtl="0" algn="just">
              <a:spcBef>
                <a:spcPts val="1200"/>
              </a:spcBef>
              <a:spcAft>
                <a:spcPts val="1200"/>
              </a:spcAft>
              <a:buNone/>
            </a:pPr>
            <a:r>
              <a:rPr lang="pt-BR" sz="1400">
                <a:solidFill>
                  <a:schemeClr val="dk1"/>
                </a:solidFill>
              </a:rPr>
              <a:t>Quando o assunto é voltado para Consequências sociais do coronavírus é importante lembrar das minorias nas quais tem menor poder aquisitivo e sofrem bastante com a pandemia. A eficácia da vacina tem sido um importante fator para reduzir o número de mortos por infectados, com garantia que não traga riscos à saúde, sendo avaliada durante toda a fase clínica do estudo, principalmente na sua primeira fase. </a:t>
            </a:r>
            <a:endParaRPr sz="1400">
              <a:solidFill>
                <a:schemeClr val="dk1"/>
              </a:solidFill>
            </a:endParaRPr>
          </a:p>
        </p:txBody>
      </p:sp>
      <p:cxnSp>
        <p:nvCxnSpPr>
          <p:cNvPr id="87" name="Google Shape;87;p16"/>
          <p:cNvCxnSpPr/>
          <p:nvPr/>
        </p:nvCxnSpPr>
        <p:spPr>
          <a:xfrm flipH="1" rot="10800000">
            <a:off x="378200" y="113475"/>
            <a:ext cx="8043000" cy="12600"/>
          </a:xfrm>
          <a:prstGeom prst="straightConnector1">
            <a:avLst/>
          </a:prstGeom>
          <a:noFill/>
          <a:ln cap="flat" cmpd="sng" w="9525">
            <a:solidFill>
              <a:schemeClr val="dk2"/>
            </a:solidFill>
            <a:prstDash val="solid"/>
            <a:round/>
            <a:headEnd len="med" w="med" type="none"/>
            <a:tailEnd len="med" w="med" type="none"/>
          </a:ln>
        </p:spPr>
      </p:cxnSp>
      <p:cxnSp>
        <p:nvCxnSpPr>
          <p:cNvPr id="88" name="Google Shape;88;p16"/>
          <p:cNvCxnSpPr/>
          <p:nvPr/>
        </p:nvCxnSpPr>
        <p:spPr>
          <a:xfrm flipH="1" rot="10800000">
            <a:off x="378200" y="4866150"/>
            <a:ext cx="8383500" cy="12600"/>
          </a:xfrm>
          <a:prstGeom prst="straightConnector1">
            <a:avLst/>
          </a:prstGeom>
          <a:noFill/>
          <a:ln cap="flat" cmpd="sng" w="9525">
            <a:solidFill>
              <a:schemeClr val="dk2"/>
            </a:solidFill>
            <a:prstDash val="solid"/>
            <a:round/>
            <a:headEnd len="med" w="med" type="none"/>
            <a:tailEnd len="med" w="med" type="none"/>
          </a:ln>
        </p:spPr>
      </p:cxnSp>
      <p:cxnSp>
        <p:nvCxnSpPr>
          <p:cNvPr id="89" name="Google Shape;89;p16"/>
          <p:cNvCxnSpPr/>
          <p:nvPr/>
        </p:nvCxnSpPr>
        <p:spPr>
          <a:xfrm>
            <a:off x="668150" y="4664450"/>
            <a:ext cx="76773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93"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2002716" y="0"/>
            <a:ext cx="5138568" cy="5143500"/>
          </a:xfrm>
          <a:prstGeom prst="rect">
            <a:avLst/>
          </a:prstGeom>
          <a:noFill/>
          <a:ln>
            <a:noFill/>
          </a:ln>
        </p:spPr>
      </p:pic>
      <p:sp>
        <p:nvSpPr>
          <p:cNvPr id="95" name="Google Shape;95;p17"/>
          <p:cNvSpPr txBox="1"/>
          <p:nvPr/>
        </p:nvSpPr>
        <p:spPr>
          <a:xfrm>
            <a:off x="617725" y="1122000"/>
            <a:ext cx="726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6" name="Google Shape;96;p17"/>
          <p:cNvSpPr txBox="1"/>
          <p:nvPr/>
        </p:nvSpPr>
        <p:spPr>
          <a:xfrm>
            <a:off x="2307025" y="189100"/>
            <a:ext cx="43872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500">
                <a:solidFill>
                  <a:schemeClr val="dk2"/>
                </a:solidFill>
                <a:highlight>
                  <a:schemeClr val="lt2"/>
                </a:highlight>
              </a:rPr>
              <a:t>Reflexões Sobre a Sociedade </a:t>
            </a:r>
            <a:endParaRPr sz="2500">
              <a:solidFill>
                <a:schemeClr val="dk2"/>
              </a:solidFill>
              <a:highlight>
                <a:schemeClr val="lt2"/>
              </a:highlight>
            </a:endParaRPr>
          </a:p>
        </p:txBody>
      </p:sp>
      <p:sp>
        <p:nvSpPr>
          <p:cNvPr id="97" name="Google Shape;97;p17"/>
          <p:cNvSpPr txBox="1"/>
          <p:nvPr/>
        </p:nvSpPr>
        <p:spPr>
          <a:xfrm>
            <a:off x="739650" y="1235425"/>
            <a:ext cx="76647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pt-BR" sz="1600"/>
              <a:t>As desigualdades sociais ficaram mais ainda aparentes após o surto pandêmico, o corona colocou em pauta preceitos como igualdade, liberdade e coletividade. A experiência cruel que o mundo vivencia com o Covid-19 exigiu que o ser humano fizesse crescer um sentimento mútuo de pertencimento e corresponsabilidade, onde nossas ações beneficiam outras pessoas assim como nos beneficiamos e dependemos das ações dos outros </a:t>
            </a:r>
            <a:endParaRPr sz="1600"/>
          </a:p>
        </p:txBody>
      </p:sp>
      <p:cxnSp>
        <p:nvCxnSpPr>
          <p:cNvPr id="98" name="Google Shape;98;p17"/>
          <p:cNvCxnSpPr/>
          <p:nvPr/>
        </p:nvCxnSpPr>
        <p:spPr>
          <a:xfrm>
            <a:off x="806825" y="126075"/>
            <a:ext cx="7450500" cy="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17"/>
          <p:cNvCxnSpPr/>
          <p:nvPr/>
        </p:nvCxnSpPr>
        <p:spPr>
          <a:xfrm>
            <a:off x="731175" y="4639225"/>
            <a:ext cx="7488300" cy="252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17"/>
          <p:cNvCxnSpPr/>
          <p:nvPr/>
        </p:nvCxnSpPr>
        <p:spPr>
          <a:xfrm>
            <a:off x="1071575" y="4487950"/>
            <a:ext cx="6555300" cy="12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